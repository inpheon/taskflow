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76B63"/>
          </a:solidFill>
          <a:ln w="12700">
            <a:solidFill>
              <a:srgbClr val="176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8368" y="594360"/>
            <a:ext cx="585216" cy="585216"/>
          </a:xfrm>
          <a:prstGeom prst="roundRect">
            <a:avLst/>
          </a:prstGeom>
          <a:solidFill>
            <a:srgbClr val="176B63"/>
          </a:solidFill>
          <a:ln w="12700">
            <a:solidFill>
              <a:srgbClr val="176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109728" bIns="109728"/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TF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08760"/>
            <a:ext cx="9875520" cy="7315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800" b="1">
                <a:solidFill>
                  <a:srgbClr val="FFFFFF"/>
                </a:solidFill>
                <a:latin typeface="Aptos"/>
              </a:defRPr>
            </a:pPr>
            <a:r>
              <a:t>TaskFlow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2258568"/>
            <a:ext cx="9601200" cy="43891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DDEEEB"/>
                </a:solidFill>
                <a:latin typeface="Aptos"/>
              </a:defRPr>
            </a:pPr>
            <a:r>
              <a:t>Architektura, decyzje i wnioski</a:t>
            </a:r>
          </a:p>
        </p:txBody>
      </p:sp>
      <p:sp>
        <p:nvSpPr>
          <p:cNvPr id="6" name="Rectangle 5"/>
          <p:cNvSpPr/>
          <p:nvPr/>
        </p:nvSpPr>
        <p:spPr>
          <a:xfrm>
            <a:off x="676656" y="2971800"/>
            <a:ext cx="2057400" cy="73152"/>
          </a:xfrm>
          <a:prstGeom prst="rect">
            <a:avLst/>
          </a:prstGeom>
          <a:solidFill>
            <a:srgbClr val="C75B4B"/>
          </a:solidFill>
          <a:ln w="12700">
            <a:solidFill>
              <a:srgbClr val="C75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3337560"/>
            <a:ext cx="7772400" cy="32918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CBD5E1"/>
                </a:solidFill>
                <a:latin typeface="Aptos"/>
              </a:defRPr>
            </a:pPr>
            <a:r>
              <a:t>Projektowanie Aplikacji Internetowych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3767328"/>
            <a:ext cx="7772400" cy="31089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Jakub Uchman | Marcin Kuduk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6144768"/>
            <a:ext cx="7315200" cy="21945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A9BACB"/>
                </a:solidFill>
                <a:latin typeface="Aptos"/>
              </a:defRPr>
            </a:pPr>
            <a:r>
              <a:t>Vue 3  |  Spring Boot  |  PostgreSQL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76B63"/>
          </a:solidFill>
          <a:ln w="12700">
            <a:solidFill>
              <a:srgbClr val="176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27432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176B63"/>
                </a:solidFill>
                <a:latin typeface="Aptos"/>
              </a:defRPr>
            </a:pPr>
            <a:r>
              <a:t>PRODUKT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064240" cy="43891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3233A"/>
                </a:solidFill>
                <a:latin typeface="Aptos"/>
              </a:defRPr>
            </a:pPr>
            <a:r>
              <a:t>Co robi TaskFlow?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932688"/>
            <a:ext cx="10789920" cy="31089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37184"/>
                </a:solidFill>
                <a:latin typeface="Aptos"/>
              </a:defRPr>
            </a:pPr>
            <a:r>
              <a:t>Lekki system zarządzania projektami i zadaniami w stylu kanban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65408" y="6528816"/>
            <a:ext cx="384048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37184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609344"/>
            <a:ext cx="73152" cy="73152"/>
          </a:xfrm>
          <a:prstGeom prst="rect">
            <a:avLst/>
          </a:prstGeom>
          <a:solidFill>
            <a:srgbClr val="176B63"/>
          </a:solidFill>
          <a:ln w="12700">
            <a:solidFill>
              <a:srgbClr val="176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1508760"/>
            <a:ext cx="4700016" cy="43891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82433"/>
                </a:solidFill>
                <a:latin typeface="Aptos"/>
              </a:defRPr>
            </a:pPr>
            <a:r>
              <a:t>Rejestracja, logowanie i chroniona sesja JWT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130552"/>
            <a:ext cx="73152" cy="73152"/>
          </a:xfrm>
          <a:prstGeom prst="rect">
            <a:avLst/>
          </a:prstGeom>
          <a:solidFill>
            <a:srgbClr val="35658C"/>
          </a:solidFill>
          <a:ln w="12700">
            <a:solidFill>
              <a:srgbClr val="3565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2029968"/>
            <a:ext cx="4700016" cy="43891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82433"/>
                </a:solidFill>
                <a:latin typeface="Aptos"/>
              </a:defRPr>
            </a:pPr>
            <a:r>
              <a:t>Projekty i zadania z pełnym CRUD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651760"/>
            <a:ext cx="73152" cy="73152"/>
          </a:xfrm>
          <a:prstGeom prst="rect">
            <a:avLst/>
          </a:prstGeom>
          <a:solidFill>
            <a:srgbClr val="C75B4B"/>
          </a:solidFill>
          <a:ln w="12700">
            <a:solidFill>
              <a:srgbClr val="C75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2551176"/>
            <a:ext cx="4700016" cy="43891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82433"/>
                </a:solidFill>
                <a:latin typeface="Aptos"/>
              </a:defRPr>
            </a:pPr>
            <a:r>
              <a:t>Tablica kanban z przeciąganiem kart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172968"/>
            <a:ext cx="73152" cy="73152"/>
          </a:xfrm>
          <a:prstGeom prst="rect">
            <a:avLst/>
          </a:prstGeom>
          <a:solidFill>
            <a:srgbClr val="D6A72C"/>
          </a:solidFill>
          <a:ln w="12700">
            <a:solidFill>
              <a:srgbClr val="D6A7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" y="3072384"/>
            <a:ext cx="4700016" cy="43891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82433"/>
                </a:solidFill>
                <a:latin typeface="Aptos"/>
              </a:defRPr>
            </a:pPr>
            <a:r>
              <a:t>Notatki, statystyki, raport i sugestia zadania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06440" y="1417320"/>
            <a:ext cx="1737360" cy="2770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806440" y="1417320"/>
            <a:ext cx="1737360" cy="384048"/>
          </a:xfrm>
          <a:prstGeom prst="rect">
            <a:avLst/>
          </a:prstGeom>
          <a:solidFill>
            <a:srgbClr val="E4EDF5"/>
          </a:solidFill>
          <a:ln w="12700">
            <a:solidFill>
              <a:srgbClr val="E4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34455" y="1517904"/>
            <a:ext cx="137160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13233A"/>
                </a:solidFill>
                <a:latin typeface="Aptos"/>
              </a:defRPr>
            </a:pPr>
            <a:r>
              <a:t>TODO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34455" y="1984248"/>
            <a:ext cx="1481328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34455" y="1984248"/>
            <a:ext cx="45720" cy="512064"/>
          </a:xfrm>
          <a:prstGeom prst="rect">
            <a:avLst/>
          </a:prstGeom>
          <a:solidFill>
            <a:srgbClr val="C75B4B"/>
          </a:solidFill>
          <a:ln w="12700">
            <a:solidFill>
              <a:srgbClr val="C75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71616" y="2112264"/>
            <a:ext cx="118872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182433"/>
                </a:solidFill>
                <a:latin typeface="Aptos"/>
              </a:defRPr>
            </a:pPr>
            <a:r>
              <a:t>Przegląd API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34455" y="2679191"/>
            <a:ext cx="1481328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934455" y="2679191"/>
            <a:ext cx="45720" cy="512064"/>
          </a:xfrm>
          <a:prstGeom prst="rect">
            <a:avLst/>
          </a:prstGeom>
          <a:solidFill>
            <a:srgbClr val="176B63"/>
          </a:solidFill>
          <a:ln w="12700">
            <a:solidFill>
              <a:srgbClr val="176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71616" y="2807208"/>
            <a:ext cx="118872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182433"/>
                </a:solidFill>
                <a:latin typeface="Aptos"/>
              </a:defRPr>
            </a:pPr>
            <a:r>
              <a:t>Przygotowanie pokazu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44967" y="1417320"/>
            <a:ext cx="1737360" cy="2770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744967" y="1417320"/>
            <a:ext cx="1737360" cy="384048"/>
          </a:xfrm>
          <a:prstGeom prst="rect">
            <a:avLst/>
          </a:prstGeom>
          <a:solidFill>
            <a:srgbClr val="F7EECF"/>
          </a:solidFill>
          <a:ln w="12700">
            <a:solidFill>
              <a:srgbClr val="F7EE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72983" y="1517904"/>
            <a:ext cx="137160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13233A"/>
                </a:solidFill>
                <a:latin typeface="Aptos"/>
              </a:defRPr>
            </a:pPr>
            <a:r>
              <a:t>IN PROGRESS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872983" y="1984248"/>
            <a:ext cx="1481328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872983" y="1984248"/>
            <a:ext cx="45720" cy="512064"/>
          </a:xfrm>
          <a:prstGeom prst="rect">
            <a:avLst/>
          </a:prstGeom>
          <a:solidFill>
            <a:srgbClr val="C75B4B"/>
          </a:solidFill>
          <a:ln w="12700">
            <a:solidFill>
              <a:srgbClr val="C75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10143" y="2112264"/>
            <a:ext cx="118872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182433"/>
                </a:solidFill>
                <a:latin typeface="Aptos"/>
              </a:defRPr>
            </a:pPr>
            <a:r>
              <a:t>Raport projektu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683496" y="1417320"/>
            <a:ext cx="1737360" cy="2770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683496" y="1417320"/>
            <a:ext cx="1737360" cy="384048"/>
          </a:xfrm>
          <a:prstGeom prst="rect">
            <a:avLst/>
          </a:prstGeom>
          <a:solidFill>
            <a:srgbClr val="DDEEEB"/>
          </a:solidFill>
          <a:ln w="12700">
            <a:solidFill>
              <a:srgbClr val="DDE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811512" y="1517904"/>
            <a:ext cx="137160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13233A"/>
                </a:solidFill>
                <a:latin typeface="Aptos"/>
              </a:defRPr>
            </a:pPr>
            <a:r>
              <a:t>DONE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811512" y="1984248"/>
            <a:ext cx="1481328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811512" y="1984248"/>
            <a:ext cx="45720" cy="512064"/>
          </a:xfrm>
          <a:prstGeom prst="rect">
            <a:avLst/>
          </a:prstGeom>
          <a:solidFill>
            <a:srgbClr val="C75B4B"/>
          </a:solidFill>
          <a:ln w="12700">
            <a:solidFill>
              <a:srgbClr val="C75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948672" y="2112264"/>
            <a:ext cx="118872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182433"/>
                </a:solidFill>
                <a:latin typeface="Aptos"/>
              </a:defRPr>
            </a:pPr>
            <a:r>
              <a:t>Szkielet serwera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" y="4754880"/>
            <a:ext cx="10927080" cy="914400"/>
          </a:xfrm>
          <a:prstGeom prst="rect">
            <a:avLst/>
          </a:prstGeom>
          <a:solidFill>
            <a:srgbClr val="13233A"/>
          </a:solidFill>
          <a:ln w="12700">
            <a:solidFill>
              <a:srgbClr val="13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96112" y="4956048"/>
            <a:ext cx="132588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DDEEEB"/>
                </a:solidFill>
                <a:latin typeface="Aptos"/>
              </a:defRPr>
            </a:pPr>
            <a:r>
              <a:t>DEMONSTRACJA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67712" y="4937760"/>
            <a:ext cx="8732520" cy="38404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logowanie  &gt;  projekt  &gt;  przesunięcie  &gt;  notatka  &gt;  raport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76B63"/>
          </a:solidFill>
          <a:ln w="12700">
            <a:solidFill>
              <a:srgbClr val="176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27432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176B63"/>
                </a:solidFill>
                <a:latin typeface="Aptos"/>
              </a:defRPr>
            </a:pPr>
            <a:r>
              <a:t>ARCHITEKTURA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064240" cy="43891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3233A"/>
                </a:solidFill>
                <a:latin typeface="Aptos"/>
              </a:defRPr>
            </a:pPr>
            <a:r>
              <a:t>Jeden system, trzy kontenery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932688"/>
            <a:ext cx="10789920" cy="31089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37184"/>
                </a:solidFill>
                <a:latin typeface="Aptos"/>
              </a:defRPr>
            </a:pPr>
            <a:r>
              <a:t>Modularny monolit i powtarzalne uruchomienie przez Docker Compose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65408" y="6528816"/>
            <a:ext cx="384048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37184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874519"/>
            <a:ext cx="21488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874519"/>
            <a:ext cx="2148840" cy="109728"/>
          </a:xfrm>
          <a:prstGeom prst="rect">
            <a:avLst/>
          </a:prstGeom>
          <a:solidFill>
            <a:srgbClr val="35658C"/>
          </a:solidFill>
          <a:ln w="12700">
            <a:solidFill>
              <a:srgbClr val="3565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12848"/>
            <a:ext cx="1783080" cy="32918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3233A"/>
                </a:solidFill>
                <a:latin typeface="Aptos"/>
              </a:defRPr>
            </a:pPr>
            <a:r>
              <a:t>Przeglądarka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670048"/>
            <a:ext cx="178308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37184"/>
                </a:solidFill>
                <a:latin typeface="Aptos"/>
              </a:defRPr>
            </a:pPr>
            <a:r>
              <a:t>Vue SPA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926080" y="2432304"/>
            <a:ext cx="512064" cy="237744"/>
          </a:xfrm>
          <a:prstGeom prst="rightArrow">
            <a:avLst/>
          </a:prstGeom>
          <a:solidFill>
            <a:srgbClr val="176B63"/>
          </a:solidFill>
          <a:ln>
            <a:solidFill>
              <a:srgbClr val="176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46120" y="1874519"/>
            <a:ext cx="21488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46120" y="1874519"/>
            <a:ext cx="2148840" cy="109728"/>
          </a:xfrm>
          <a:prstGeom prst="rect">
            <a:avLst/>
          </a:prstGeom>
          <a:solidFill>
            <a:srgbClr val="176B63"/>
          </a:solidFill>
          <a:ln w="12700">
            <a:solidFill>
              <a:srgbClr val="176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29000" y="2212848"/>
            <a:ext cx="1783080" cy="32918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3233A"/>
                </a:solidFill>
                <a:latin typeface="Aptos"/>
              </a:defRPr>
            </a:pPr>
            <a:r>
              <a:t>Nginx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2670048"/>
            <a:ext cx="178308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37184"/>
                </a:solidFill>
                <a:latin typeface="Aptos"/>
              </a:defRPr>
            </a:pPr>
            <a:r>
              <a:t>pliki + przekazywanie /api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486400" y="2432304"/>
            <a:ext cx="512064" cy="237744"/>
          </a:xfrm>
          <a:prstGeom prst="rightArrow">
            <a:avLst/>
          </a:prstGeom>
          <a:solidFill>
            <a:srgbClr val="176B63"/>
          </a:solidFill>
          <a:ln>
            <a:solidFill>
              <a:srgbClr val="176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897880" y="1874519"/>
            <a:ext cx="21488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897880" y="1874519"/>
            <a:ext cx="2148840" cy="109728"/>
          </a:xfrm>
          <a:prstGeom prst="rect">
            <a:avLst/>
          </a:prstGeom>
          <a:solidFill>
            <a:srgbClr val="C75B4B"/>
          </a:solidFill>
          <a:ln w="12700">
            <a:solidFill>
              <a:srgbClr val="C75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80760" y="2212848"/>
            <a:ext cx="1783080" cy="32918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3233A"/>
                </a:solidFill>
                <a:latin typeface="Aptos"/>
              </a:defRPr>
            </a:pPr>
            <a:r>
              <a:t>Spring Boot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0760" y="2670048"/>
            <a:ext cx="178308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37184"/>
                </a:solidFill>
                <a:latin typeface="Aptos"/>
              </a:defRPr>
            </a:pPr>
            <a:r>
              <a:t>REST + domena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8138160" y="2432304"/>
            <a:ext cx="512064" cy="237744"/>
          </a:xfrm>
          <a:prstGeom prst="rightArrow">
            <a:avLst/>
          </a:prstGeom>
          <a:solidFill>
            <a:srgbClr val="176B63"/>
          </a:solidFill>
          <a:ln>
            <a:solidFill>
              <a:srgbClr val="176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641080" y="1874519"/>
            <a:ext cx="21488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641080" y="1874519"/>
            <a:ext cx="2148840" cy="109728"/>
          </a:xfrm>
          <a:prstGeom prst="rect">
            <a:avLst/>
          </a:prstGeom>
          <a:solidFill>
            <a:srgbClr val="D6A72C"/>
          </a:solidFill>
          <a:ln w="12700">
            <a:solidFill>
              <a:srgbClr val="D6A7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23959" y="2212848"/>
            <a:ext cx="1783080" cy="32918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3233A"/>
                </a:solidFill>
                <a:latin typeface="Aptos"/>
              </a:defRPr>
            </a:pPr>
            <a:r>
              <a:t>PostgreSQL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23959" y="2670048"/>
            <a:ext cx="178308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37184"/>
                </a:solidFill>
                <a:latin typeface="Aptos"/>
              </a:defRPr>
            </a:pPr>
            <a:r>
              <a:t>dane + relacje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61488" y="3474720"/>
            <a:ext cx="18288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37184"/>
                </a:solidFill>
                <a:latin typeface="Aptos"/>
              </a:defRPr>
            </a:pPr>
            <a:r>
              <a:t>HTTP :5173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30952" y="3474720"/>
            <a:ext cx="18288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37184"/>
                </a:solidFill>
                <a:latin typeface="Aptos"/>
              </a:defRPr>
            </a:pPr>
            <a:r>
              <a:t>REST / JSON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28431" y="3474720"/>
            <a:ext cx="18288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37184"/>
                </a:solidFill>
                <a:latin typeface="Aptos"/>
              </a:defRPr>
            </a:pPr>
            <a:r>
              <a:t>JPA / JDBC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" y="4206240"/>
            <a:ext cx="10515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14400" y="4443984"/>
            <a:ext cx="1600200" cy="310896"/>
          </a:xfrm>
          <a:prstGeom prst="roundRect">
            <a:avLst/>
          </a:prstGeom>
          <a:solidFill>
            <a:srgbClr val="DDEEEB"/>
          </a:solidFill>
          <a:ln w="12700">
            <a:solidFill>
              <a:srgbClr val="DDE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>
              <a:defRPr sz="1000" b="1">
                <a:solidFill>
                  <a:srgbClr val="0E4F49"/>
                </a:solidFill>
                <a:latin typeface="Aptos"/>
              </a:defRPr>
            </a:pPr>
            <a:r>
              <a:t>docker compose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70632" y="4434840"/>
            <a:ext cx="809244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3233A"/>
                </a:solidFill>
                <a:latin typeface="Aptos"/>
              </a:defRPr>
            </a:pPr>
            <a:r>
              <a:t>Jedna komenda uruchamia interfejs, API i bazę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70632" y="4800600"/>
            <a:ext cx="809244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37184"/>
                </a:solidFill>
                <a:latin typeface="Aptos"/>
              </a:defRPr>
            </a:pPr>
            <a:r>
              <a:t>Nginx przekazuje żądania /api; lokalnie tę samą rolę pełni Vite.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76B63"/>
          </a:solidFill>
          <a:ln w="12700">
            <a:solidFill>
              <a:srgbClr val="176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27432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176B63"/>
                </a:solidFill>
                <a:latin typeface="Aptos"/>
              </a:defRPr>
            </a:pPr>
            <a:r>
              <a:t>ARCHITEKTURA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064240" cy="43891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3233A"/>
                </a:solidFill>
                <a:latin typeface="Aptos"/>
              </a:defRPr>
            </a:pPr>
            <a:r>
              <a:t>Przepływ chronionego wywołania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932688"/>
            <a:ext cx="10789920" cy="31089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37184"/>
                </a:solidFill>
                <a:latin typeface="Aptos"/>
              </a:defRPr>
            </a:pPr>
            <a:r>
              <a:t>Serwer jest źródłem prawdy dla walidacji, uprawnień i reguł domenowych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65408" y="6528816"/>
            <a:ext cx="384048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37184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" y="1828800"/>
            <a:ext cx="1536192" cy="960120"/>
          </a:xfrm>
          <a:prstGeom prst="rect">
            <a:avLst/>
          </a:prstGeom>
          <a:solidFill>
            <a:srgbClr val="DDEEEB"/>
          </a:solidFill>
          <a:ln w="12700">
            <a:solidFill>
              <a:srgbClr val="DDE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76272"/>
            <a:ext cx="1316736" cy="23774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3233A"/>
                </a:solidFill>
                <a:latin typeface="Aptos"/>
              </a:defRPr>
            </a:pPr>
            <a:r>
              <a:t>Token JWT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139696" y="2185416"/>
            <a:ext cx="320040" cy="228600"/>
          </a:xfrm>
          <a:prstGeom prst="rightArrow">
            <a:avLst/>
          </a:prstGeom>
          <a:solidFill>
            <a:srgbClr val="637184"/>
          </a:solidFill>
          <a:ln>
            <a:solidFill>
              <a:srgbClr val="6371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450592" y="1828800"/>
            <a:ext cx="1536192" cy="960120"/>
          </a:xfrm>
          <a:prstGeom prst="rect">
            <a:avLst/>
          </a:prstGeom>
          <a:solidFill>
            <a:srgbClr val="E4EDF5"/>
          </a:solidFill>
          <a:ln w="12700">
            <a:solidFill>
              <a:srgbClr val="E4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60320" y="2176272"/>
            <a:ext cx="1316736" cy="23774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3233A"/>
                </a:solidFill>
                <a:latin typeface="Aptos"/>
              </a:defRPr>
            </a:pPr>
            <a:r>
              <a:t>Filtr JWT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059936" y="2185416"/>
            <a:ext cx="320040" cy="228600"/>
          </a:xfrm>
          <a:prstGeom prst="rightArrow">
            <a:avLst/>
          </a:prstGeom>
          <a:solidFill>
            <a:srgbClr val="637184"/>
          </a:solidFill>
          <a:ln>
            <a:solidFill>
              <a:srgbClr val="6371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70832" y="1828800"/>
            <a:ext cx="1536192" cy="960120"/>
          </a:xfrm>
          <a:prstGeom prst="rect">
            <a:avLst/>
          </a:prstGeom>
          <a:solidFill>
            <a:srgbClr val="F7EECF"/>
          </a:solidFill>
          <a:ln w="12700">
            <a:solidFill>
              <a:srgbClr val="F7EE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2176272"/>
            <a:ext cx="1316736" cy="23774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3233A"/>
                </a:solidFill>
                <a:latin typeface="Aptos"/>
              </a:defRPr>
            </a:pPr>
            <a:r>
              <a:t>Kontroler + DTO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980176" y="2185416"/>
            <a:ext cx="320040" cy="228600"/>
          </a:xfrm>
          <a:prstGeom prst="rightArrow">
            <a:avLst/>
          </a:prstGeom>
          <a:solidFill>
            <a:srgbClr val="637184"/>
          </a:solidFill>
          <a:ln>
            <a:solidFill>
              <a:srgbClr val="6371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91072" y="1828800"/>
            <a:ext cx="1536192" cy="960120"/>
          </a:xfrm>
          <a:prstGeom prst="rect">
            <a:avLst/>
          </a:prstGeom>
          <a:solidFill>
            <a:srgbClr val="F6E4E0"/>
          </a:solidFill>
          <a:ln w="12700">
            <a:solidFill>
              <a:srgbClr val="F6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176272"/>
            <a:ext cx="1316736" cy="23774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3233A"/>
                </a:solidFill>
                <a:latin typeface="Aptos"/>
              </a:defRPr>
            </a:pPr>
            <a:r>
              <a:t>Domena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900416" y="2185416"/>
            <a:ext cx="320040" cy="228600"/>
          </a:xfrm>
          <a:prstGeom prst="rightArrow">
            <a:avLst/>
          </a:prstGeom>
          <a:solidFill>
            <a:srgbClr val="637184"/>
          </a:solidFill>
          <a:ln>
            <a:solidFill>
              <a:srgbClr val="6371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11312" y="1828800"/>
            <a:ext cx="1536192" cy="960120"/>
          </a:xfrm>
          <a:prstGeom prst="rect">
            <a:avLst/>
          </a:prstGeom>
          <a:solidFill>
            <a:srgbClr val="DDEEEB"/>
          </a:solidFill>
          <a:ln w="12700">
            <a:solidFill>
              <a:srgbClr val="DDE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2176272"/>
            <a:ext cx="1316736" cy="23774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3233A"/>
                </a:solidFill>
                <a:latin typeface="Aptos"/>
              </a:defRPr>
            </a:pPr>
            <a:r>
              <a:t>Repozytorium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9820656" y="2185416"/>
            <a:ext cx="320040" cy="228600"/>
          </a:xfrm>
          <a:prstGeom prst="rightArrow">
            <a:avLst/>
          </a:prstGeom>
          <a:solidFill>
            <a:srgbClr val="637184"/>
          </a:solidFill>
          <a:ln>
            <a:solidFill>
              <a:srgbClr val="6371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131552" y="1828800"/>
            <a:ext cx="1536192" cy="960120"/>
          </a:xfrm>
          <a:prstGeom prst="rect">
            <a:avLst/>
          </a:prstGeom>
          <a:solidFill>
            <a:srgbClr val="E4EDF5"/>
          </a:solidFill>
          <a:ln w="12700">
            <a:solidFill>
              <a:srgbClr val="E4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41280" y="2176272"/>
            <a:ext cx="1316736" cy="23774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3233A"/>
                </a:solidFill>
                <a:latin typeface="Aptos"/>
              </a:defRPr>
            </a:pPr>
            <a:r>
              <a:t>PostgreSQL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" y="3429000"/>
            <a:ext cx="5074920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14400" y="3675887"/>
            <a:ext cx="1508760" cy="310896"/>
          </a:xfrm>
          <a:prstGeom prst="roundRect">
            <a:avLst/>
          </a:prstGeom>
          <a:solidFill>
            <a:srgbClr val="DDEEEB"/>
          </a:solidFill>
          <a:ln w="12700">
            <a:solidFill>
              <a:srgbClr val="DDE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>
              <a:defRPr sz="1000" b="1">
                <a:solidFill>
                  <a:srgbClr val="0E4F49"/>
                </a:solidFill>
                <a:latin typeface="Aptos"/>
              </a:defRPr>
            </a:pPr>
            <a:r>
              <a:t>Bezpieczeństwo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" y="4187952"/>
            <a:ext cx="73152" cy="73152"/>
          </a:xfrm>
          <a:prstGeom prst="rect">
            <a:avLst/>
          </a:prstGeom>
          <a:solidFill>
            <a:srgbClr val="176B63"/>
          </a:solidFill>
          <a:ln w="12700">
            <a:solidFill>
              <a:srgbClr val="176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52144" y="4087368"/>
            <a:ext cx="4242816" cy="43891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82433"/>
                </a:solidFill>
                <a:latin typeface="Aptos"/>
              </a:defRPr>
            </a:pPr>
            <a:r>
              <a:t>Repozytorium ogranicza zapytania do właściciela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4400" y="4562856"/>
            <a:ext cx="73152" cy="73152"/>
          </a:xfrm>
          <a:prstGeom prst="rect">
            <a:avLst/>
          </a:prstGeom>
          <a:solidFill>
            <a:srgbClr val="176B63"/>
          </a:solidFill>
          <a:ln w="12700">
            <a:solidFill>
              <a:srgbClr val="176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52144" y="4462272"/>
            <a:ext cx="4242816" cy="43891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82433"/>
                </a:solidFill>
                <a:latin typeface="Aptos"/>
              </a:defRPr>
            </a:pPr>
            <a:r>
              <a:t>Cudzy zasób i brak zasobu zwracają to samo 404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61888" y="3429000"/>
            <a:ext cx="5239512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199632" y="3675887"/>
            <a:ext cx="1234440" cy="310896"/>
          </a:xfrm>
          <a:prstGeom prst="roundRect">
            <a:avLst/>
          </a:prstGeom>
          <a:solidFill>
            <a:srgbClr val="F6E4E0"/>
          </a:solidFill>
          <a:ln w="12700">
            <a:solidFill>
              <a:srgbClr val="F6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>
              <a:defRPr sz="1000" b="1">
                <a:solidFill>
                  <a:srgbClr val="C75B4B"/>
                </a:solidFill>
                <a:latin typeface="Aptos"/>
              </a:defRPr>
            </a:pPr>
            <a:r>
              <a:t>Domena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99632" y="4187952"/>
            <a:ext cx="73152" cy="73152"/>
          </a:xfrm>
          <a:prstGeom prst="rect">
            <a:avLst/>
          </a:prstGeom>
          <a:solidFill>
            <a:srgbClr val="C75B4B"/>
          </a:solidFill>
          <a:ln w="12700">
            <a:solidFill>
              <a:srgbClr val="C75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37376" y="4087368"/>
            <a:ext cx="4334256" cy="43891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82433"/>
                </a:solidFill>
                <a:latin typeface="Aptos"/>
              </a:defRPr>
            </a:pPr>
            <a:r>
              <a:t>Przeniesienie porządkuje obie kolumny w jednej transakcji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99632" y="4562856"/>
            <a:ext cx="73152" cy="73152"/>
          </a:xfrm>
          <a:prstGeom prst="rect">
            <a:avLst/>
          </a:prstGeom>
          <a:solidFill>
            <a:srgbClr val="C75B4B"/>
          </a:solidFill>
          <a:ln w="12700">
            <a:solidFill>
              <a:srgbClr val="C75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37376" y="4462272"/>
            <a:ext cx="4334256" cy="43891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82433"/>
                </a:solidFill>
                <a:latin typeface="Aptos"/>
              </a:defRPr>
            </a:pPr>
            <a:r>
              <a:t>completedAt i raporty są wyznaczane po stronie serwera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76B63"/>
          </a:solidFill>
          <a:ln w="12700">
            <a:solidFill>
              <a:srgbClr val="176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27432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176B63"/>
                </a:solidFill>
                <a:latin typeface="Aptos"/>
              </a:defRPr>
            </a:pPr>
            <a:r>
              <a:t>ARCHITEKTURA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064240" cy="43891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3233A"/>
                </a:solidFill>
                <a:latin typeface="Aptos"/>
              </a:defRPr>
            </a:pPr>
            <a:r>
              <a:t>Model domenowy i operacje domenowe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932688"/>
            <a:ext cx="10789920" cy="31089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37184"/>
                </a:solidFill>
                <a:latin typeface="Aptos"/>
              </a:defRPr>
            </a:pPr>
            <a:r>
              <a:t>Cztery powiązane zasoby, ale logika wykracza poza CRUD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65408" y="6528816"/>
            <a:ext cx="384048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37184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16916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1737360"/>
            <a:ext cx="1399032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3233A"/>
                </a:solidFill>
                <a:latin typeface="Aptos"/>
              </a:defRPr>
            </a:pPr>
            <a:r>
              <a:t>User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2103120"/>
            <a:ext cx="1399032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37184"/>
                </a:solidFill>
                <a:latin typeface="Aptos"/>
              </a:defRPr>
            </a:pPr>
            <a:r>
              <a:t>konto + haslo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26080" y="1554480"/>
            <a:ext cx="16916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72384" y="1737360"/>
            <a:ext cx="1399032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3233A"/>
                </a:solidFill>
                <a:latin typeface="Aptos"/>
              </a:defRPr>
            </a:pPr>
            <a:r>
              <a:t>Project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72384" y="2103120"/>
            <a:ext cx="1399032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37184"/>
                </a:solidFill>
                <a:latin typeface="Aptos"/>
              </a:defRPr>
            </a:pPr>
            <a:r>
              <a:t>właściciel + metadane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26080" y="3063240"/>
            <a:ext cx="16916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72384" y="3246120"/>
            <a:ext cx="1399032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3233A"/>
                </a:solidFill>
                <a:latin typeface="Aptos"/>
              </a:defRPr>
            </a:pPr>
            <a:r>
              <a:t>Task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72384" y="3611880"/>
            <a:ext cx="1399032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37184"/>
                </a:solidFill>
                <a:latin typeface="Aptos"/>
              </a:defRPr>
            </a:pPr>
            <a:r>
              <a:t>stan + pozycja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063240"/>
            <a:ext cx="16916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7824" y="3246120"/>
            <a:ext cx="1399032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3233A"/>
                </a:solidFill>
                <a:latin typeface="Aptos"/>
              </a:defRPr>
            </a:pPr>
            <a:r>
              <a:t>TaskNote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" y="3611880"/>
            <a:ext cx="1399032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37184"/>
                </a:solidFill>
                <a:latin typeface="Aptos"/>
              </a:defRPr>
            </a:pPr>
            <a:r>
              <a:t>autor + treść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2450592" y="1856231"/>
            <a:ext cx="365760" cy="219456"/>
          </a:xfrm>
          <a:prstGeom prst="rightArrow">
            <a:avLst/>
          </a:prstGeom>
          <a:solidFill>
            <a:srgbClr val="176B63"/>
          </a:solidFill>
          <a:ln>
            <a:solidFill>
              <a:srgbClr val="176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ight Arrow 19"/>
          <p:cNvSpPr/>
          <p:nvPr/>
        </p:nvSpPr>
        <p:spPr>
          <a:xfrm rot="5400000">
            <a:off x="3593592" y="2578608"/>
            <a:ext cx="365760" cy="219456"/>
          </a:xfrm>
          <a:prstGeom prst="rightArrow">
            <a:avLst/>
          </a:prstGeom>
          <a:solidFill>
            <a:srgbClr val="176B63"/>
          </a:solidFill>
          <a:ln>
            <a:solidFill>
              <a:srgbClr val="176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ight Arrow 20"/>
          <p:cNvSpPr/>
          <p:nvPr/>
        </p:nvSpPr>
        <p:spPr>
          <a:xfrm rot="10800000">
            <a:off x="2450592" y="3410712"/>
            <a:ext cx="365760" cy="219456"/>
          </a:xfrm>
          <a:prstGeom prst="rightArrow">
            <a:avLst/>
          </a:prstGeom>
          <a:solidFill>
            <a:srgbClr val="176B63"/>
          </a:solidFill>
          <a:ln>
            <a:solidFill>
              <a:srgbClr val="176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ight Arrow 21"/>
          <p:cNvSpPr/>
          <p:nvPr/>
        </p:nvSpPr>
        <p:spPr>
          <a:xfrm rot="5400000">
            <a:off x="1389888" y="2578608"/>
            <a:ext cx="365760" cy="219456"/>
          </a:xfrm>
          <a:prstGeom prst="rightArrow">
            <a:avLst/>
          </a:prstGeom>
          <a:solidFill>
            <a:srgbClr val="35658C"/>
          </a:solidFill>
          <a:ln>
            <a:solidFill>
              <a:srgbClr val="3565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468880" y="1572768"/>
            <a:ext cx="45720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37184"/>
                </a:solidFill>
                <a:latin typeface="Aptos"/>
              </a:defRPr>
            </a:pPr>
            <a:r>
              <a:t>1:N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86784" y="2606040"/>
            <a:ext cx="45720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37184"/>
                </a:solidFill>
                <a:latin typeface="Aptos"/>
              </a:defRPr>
            </a:pPr>
            <a:r>
              <a:t>1:N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68880" y="3739896"/>
            <a:ext cx="45720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37184"/>
                </a:solidFill>
                <a:latin typeface="Aptos"/>
              </a:defRPr>
            </a:pPr>
            <a:r>
              <a:t>1:N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64208" y="2606040"/>
            <a:ext cx="45720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37184"/>
                </a:solidFill>
                <a:latin typeface="Aptos"/>
              </a:defRPr>
            </a:pPr>
            <a:r>
              <a:t>1:N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349240" y="1417320"/>
            <a:ext cx="585216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50992" y="1700784"/>
            <a:ext cx="5303520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3233A"/>
                </a:solidFill>
                <a:latin typeface="Aptos"/>
              </a:defRPr>
            </a:pPr>
            <a:r>
              <a:t>Operacje wynikające z potrzeb interfejsu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50992" y="2176272"/>
            <a:ext cx="73152" cy="384048"/>
          </a:xfrm>
          <a:prstGeom prst="rect">
            <a:avLst/>
          </a:prstGeom>
          <a:solidFill>
            <a:srgbClr val="176B63"/>
          </a:solidFill>
          <a:ln w="12700">
            <a:solidFill>
              <a:srgbClr val="176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897880" y="2176272"/>
            <a:ext cx="2697480" cy="21945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3233A"/>
                </a:solidFill>
                <a:latin typeface="Aptos"/>
              </a:defRPr>
            </a:pPr>
            <a:r>
              <a:t>GET /board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58200" y="2176272"/>
            <a:ext cx="2331720" cy="21945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37184"/>
                </a:solidFill>
                <a:latin typeface="Aptos"/>
              </a:defRPr>
            </a:pPr>
            <a:r>
              <a:t>gotowe kolumny kanban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50992" y="2816352"/>
            <a:ext cx="73152" cy="384048"/>
          </a:xfrm>
          <a:prstGeom prst="rect">
            <a:avLst/>
          </a:prstGeom>
          <a:solidFill>
            <a:srgbClr val="C75B4B"/>
          </a:solidFill>
          <a:ln w="12700">
            <a:solidFill>
              <a:srgbClr val="C75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897880" y="2816352"/>
            <a:ext cx="2697480" cy="21945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3233A"/>
                </a:solidFill>
                <a:latin typeface="Aptos"/>
              </a:defRPr>
            </a:pPr>
            <a:r>
              <a:t>PATCH /tasks/{id}/move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58200" y="2816352"/>
            <a:ext cx="2331720" cy="21945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37184"/>
                </a:solidFill>
                <a:latin typeface="Aptos"/>
              </a:defRPr>
            </a:pPr>
            <a:r>
              <a:t>atomowa zmiana przepływu pracy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650992" y="3456432"/>
            <a:ext cx="73152" cy="384048"/>
          </a:xfrm>
          <a:prstGeom prst="rect">
            <a:avLst/>
          </a:prstGeom>
          <a:solidFill>
            <a:srgbClr val="35658C"/>
          </a:solidFill>
          <a:ln w="12700">
            <a:solidFill>
              <a:srgbClr val="3565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897880" y="3456432"/>
            <a:ext cx="2697480" cy="21945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3233A"/>
                </a:solidFill>
                <a:latin typeface="Aptos"/>
              </a:defRPr>
            </a:pPr>
            <a:r>
              <a:t>GET /stats + /report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58200" y="3456432"/>
            <a:ext cx="2331720" cy="21945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37184"/>
                </a:solidFill>
                <a:latin typeface="Aptos"/>
              </a:defRPr>
            </a:pPr>
            <a:r>
              <a:t>jedna definicja metryk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50992" y="4096511"/>
            <a:ext cx="73152" cy="384048"/>
          </a:xfrm>
          <a:prstGeom prst="rect">
            <a:avLst/>
          </a:prstGeom>
          <a:solidFill>
            <a:srgbClr val="D6A72C"/>
          </a:solidFill>
          <a:ln w="12700">
            <a:solidFill>
              <a:srgbClr val="D6A7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897880" y="4096511"/>
            <a:ext cx="2697480" cy="21945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3233A"/>
                </a:solidFill>
                <a:latin typeface="Aptos"/>
              </a:defRPr>
            </a:pPr>
            <a:r>
              <a:t>GET /suggested-next-task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58200" y="4096511"/>
            <a:ext cx="2331720" cy="21945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37184"/>
                </a:solidFill>
                <a:latin typeface="Aptos"/>
              </a:defRPr>
            </a:pPr>
            <a:r>
              <a:t>jawny ranking, bez AI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76B63"/>
          </a:solidFill>
          <a:ln w="12700">
            <a:solidFill>
              <a:srgbClr val="176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27432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176B63"/>
                </a:solidFill>
                <a:latin typeface="Aptos"/>
              </a:defRPr>
            </a:pPr>
            <a:r>
              <a:t>ADR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064240" cy="43891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3233A"/>
                </a:solidFill>
                <a:latin typeface="Aptos"/>
              </a:defRPr>
            </a:pPr>
            <a:r>
              <a:t>Dwie decyzje, które zdefiniowały zakres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932688"/>
            <a:ext cx="10789920" cy="31089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37184"/>
                </a:solidFill>
                <a:latin typeface="Aptos"/>
              </a:defRPr>
            </a:pPr>
            <a:r>
              <a:t>Spójny model dostępu i prosta topologia zamiast częściowych rozwiązań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65408" y="6528816"/>
            <a:ext cx="384048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37184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534924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96112" y="1682496"/>
            <a:ext cx="1051560" cy="310896"/>
          </a:xfrm>
          <a:prstGeom prst="roundRect">
            <a:avLst/>
          </a:prstGeom>
          <a:solidFill>
            <a:srgbClr val="DDEEEB"/>
          </a:solidFill>
          <a:ln w="12700">
            <a:solidFill>
              <a:srgbClr val="DDE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>
              <a:defRPr sz="1000" b="1">
                <a:solidFill>
                  <a:srgbClr val="0E4F49"/>
                </a:solidFill>
                <a:latin typeface="Aptos"/>
              </a:defRPr>
            </a:pPr>
            <a:r>
              <a:t>ADR-001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121408"/>
            <a:ext cx="4709160" cy="36576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3233A"/>
                </a:solidFill>
                <a:latin typeface="Aptos"/>
              </a:defRPr>
            </a:pPr>
            <a:r>
              <a:t>Jeden właściciel zamiast zaproszeń</a:t>
            </a:r>
          </a:p>
        </p:txBody>
      </p:sp>
      <p:sp>
        <p:nvSpPr>
          <p:cNvPr id="10" name="Rectangle 9"/>
          <p:cNvSpPr/>
          <p:nvPr/>
        </p:nvSpPr>
        <p:spPr>
          <a:xfrm>
            <a:off x="896112" y="2807208"/>
            <a:ext cx="73152" cy="73152"/>
          </a:xfrm>
          <a:prstGeom prst="rect">
            <a:avLst/>
          </a:prstGeom>
          <a:solidFill>
            <a:srgbClr val="176B63"/>
          </a:solidFill>
          <a:ln w="12700">
            <a:solidFill>
              <a:srgbClr val="176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33856" y="2706624"/>
            <a:ext cx="4334256" cy="43891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82433"/>
                </a:solidFill>
                <a:latin typeface="Aptos"/>
              </a:defRPr>
            </a:pPr>
            <a:r>
              <a:t>Jedna reguła dostępu dla całego grafu zasobów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6112" y="3273552"/>
            <a:ext cx="73152" cy="73152"/>
          </a:xfrm>
          <a:prstGeom prst="rect">
            <a:avLst/>
          </a:prstGeom>
          <a:solidFill>
            <a:srgbClr val="176B63"/>
          </a:solidFill>
          <a:ln w="12700">
            <a:solidFill>
              <a:srgbClr val="176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33856" y="3172968"/>
            <a:ext cx="4334256" cy="43891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82433"/>
                </a:solidFill>
                <a:latin typeface="Aptos"/>
              </a:defRPr>
            </a:pPr>
            <a:r>
              <a:t>Zaproszenia zmieniają dane, API, interfejs i testy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112" y="3739896"/>
            <a:ext cx="73152" cy="73152"/>
          </a:xfrm>
          <a:prstGeom prst="rect">
            <a:avLst/>
          </a:prstGeom>
          <a:solidFill>
            <a:srgbClr val="176B63"/>
          </a:solidFill>
          <a:ln w="12700">
            <a:solidFill>
              <a:srgbClr val="176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33856" y="3639312"/>
            <a:ext cx="4334256" cy="43891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82433"/>
                </a:solidFill>
                <a:latin typeface="Aptos"/>
              </a:defRPr>
            </a:pPr>
            <a:r>
              <a:t>Rozszerzenie wymaga pełnych ról OWNER / MEMBER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6112" y="4370832"/>
            <a:ext cx="4617720" cy="786384"/>
          </a:xfrm>
          <a:prstGeom prst="rect">
            <a:avLst/>
          </a:prstGeom>
          <a:solidFill>
            <a:srgbClr val="DDEEEB"/>
          </a:solidFill>
          <a:ln w="12700">
            <a:solidFill>
              <a:srgbClr val="DDE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4581144"/>
            <a:ext cx="420624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E4F49"/>
                </a:solidFill>
                <a:latin typeface="Aptos"/>
              </a:defRPr>
            </a:pPr>
            <a:r>
              <a:t>Zmiana roboczego założenia po ocenie kosztu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2" y="1417320"/>
            <a:ext cx="534924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55664" y="1682496"/>
            <a:ext cx="1051560" cy="310896"/>
          </a:xfrm>
          <a:prstGeom prst="roundRect">
            <a:avLst/>
          </a:prstGeom>
          <a:solidFill>
            <a:srgbClr val="E4EDF5"/>
          </a:solidFill>
          <a:ln w="12700">
            <a:solidFill>
              <a:srgbClr val="E4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>
              <a:defRPr sz="1000" b="1">
                <a:solidFill>
                  <a:srgbClr val="35658C"/>
                </a:solidFill>
                <a:latin typeface="Aptos"/>
              </a:defRPr>
            </a:pPr>
            <a:r>
              <a:t>ADR-002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55664" y="2121408"/>
            <a:ext cx="4709160" cy="36576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3233A"/>
                </a:solidFill>
                <a:latin typeface="Aptos"/>
              </a:defRPr>
            </a:pPr>
            <a:r>
              <a:t>Modularny monolit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55664" y="2807208"/>
            <a:ext cx="73152" cy="73152"/>
          </a:xfrm>
          <a:prstGeom prst="rect">
            <a:avLst/>
          </a:prstGeom>
          <a:solidFill>
            <a:srgbClr val="35658C"/>
          </a:solidFill>
          <a:ln w="12700">
            <a:solidFill>
              <a:srgbClr val="3565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93407" y="2706624"/>
            <a:ext cx="4334256" cy="43891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82433"/>
                </a:solidFill>
                <a:latin typeface="Aptos"/>
              </a:defRPr>
            </a:pPr>
            <a:r>
              <a:t>Jedna transakcja i jeden model uprawnień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55664" y="3273552"/>
            <a:ext cx="73152" cy="73152"/>
          </a:xfrm>
          <a:prstGeom prst="rect">
            <a:avLst/>
          </a:prstGeom>
          <a:solidFill>
            <a:srgbClr val="35658C"/>
          </a:solidFill>
          <a:ln w="12700">
            <a:solidFill>
              <a:srgbClr val="3565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93407" y="3172968"/>
            <a:ext cx="4334256" cy="43891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82433"/>
                </a:solidFill>
                <a:latin typeface="Aptos"/>
              </a:defRPr>
            </a:pPr>
            <a:r>
              <a:t>Moduły według domeny, nie warstw technicznych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55664" y="3739896"/>
            <a:ext cx="73152" cy="73152"/>
          </a:xfrm>
          <a:prstGeom prst="rect">
            <a:avLst/>
          </a:prstGeom>
          <a:solidFill>
            <a:srgbClr val="35658C"/>
          </a:solidFill>
          <a:ln w="12700">
            <a:solidFill>
              <a:srgbClr val="3565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93407" y="3639312"/>
            <a:ext cx="4334256" cy="43891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82433"/>
                </a:solidFill>
                <a:latin typeface="Aptos"/>
              </a:defRPr>
            </a:pPr>
            <a:r>
              <a:t>Bez kosztu sieci i wdrażania mikroserwisów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55664" y="4370832"/>
            <a:ext cx="4617720" cy="786384"/>
          </a:xfrm>
          <a:prstGeom prst="rect">
            <a:avLst/>
          </a:prstGeom>
          <a:solidFill>
            <a:srgbClr val="E4EDF5"/>
          </a:solidFill>
          <a:ln w="12700">
            <a:solidFill>
              <a:srgbClr val="E4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56832" y="4581144"/>
            <a:ext cx="420624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35658C"/>
                </a:solidFill>
                <a:latin typeface="Aptos"/>
              </a:defRPr>
            </a:pPr>
            <a:r>
              <a:t>Granice w kodzie bez infrastruktury rozproszonej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76B63"/>
          </a:solidFill>
          <a:ln w="12700">
            <a:solidFill>
              <a:srgbClr val="176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27432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176B63"/>
                </a:solidFill>
                <a:latin typeface="Aptos"/>
              </a:defRPr>
            </a:pPr>
            <a:r>
              <a:t>ADR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064240" cy="43891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3233A"/>
                </a:solidFill>
                <a:latin typeface="Aptos"/>
              </a:defRPr>
            </a:pPr>
            <a:r>
              <a:t>Stos wynika z problemu, nie z popularności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932688"/>
            <a:ext cx="10789920" cy="31089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37184"/>
                </a:solidFill>
                <a:latin typeface="Aptos"/>
              </a:defRPr>
            </a:pPr>
            <a:r>
              <a:t>Alternatywy porównaliśmy według kosztu, ryzyka i potrzeb domeny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65408" y="6528816"/>
            <a:ext cx="384048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37184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508760"/>
            <a:ext cx="324612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508760"/>
            <a:ext cx="3246120" cy="100584"/>
          </a:xfrm>
          <a:prstGeom prst="rect">
            <a:avLst/>
          </a:prstGeom>
          <a:solidFill>
            <a:srgbClr val="176B63"/>
          </a:solidFill>
          <a:ln w="12700">
            <a:solidFill>
              <a:srgbClr val="176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" y="1856231"/>
            <a:ext cx="2743200" cy="34747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3233A"/>
                </a:solidFill>
                <a:latin typeface="Aptos"/>
              </a:defRPr>
            </a:pPr>
            <a:r>
              <a:t>REST + operacje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" y="2359152"/>
            <a:ext cx="27432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637184"/>
                </a:solidFill>
                <a:latin typeface="Aptos"/>
              </a:defRPr>
            </a:pPr>
            <a:r>
              <a:t>DLACZEGO NIE: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2104" y="2843784"/>
            <a:ext cx="73152" cy="73152"/>
          </a:xfrm>
          <a:prstGeom prst="rect">
            <a:avLst/>
          </a:prstGeom>
          <a:solidFill>
            <a:srgbClr val="176B63"/>
          </a:solidFill>
          <a:ln w="12700">
            <a:solidFill>
              <a:srgbClr val="176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9848" y="2743200"/>
            <a:ext cx="2459736" cy="43891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82433"/>
                </a:solidFill>
                <a:latin typeface="Aptos"/>
              </a:defRPr>
            </a:pPr>
            <a:r>
              <a:t>GraphQL: brak potrzeby wyboru pól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2104" y="3483864"/>
            <a:ext cx="73152" cy="73152"/>
          </a:xfrm>
          <a:prstGeom prst="rect">
            <a:avLst/>
          </a:prstGeom>
          <a:solidFill>
            <a:srgbClr val="176B63"/>
          </a:solidFill>
          <a:ln w="12700">
            <a:solidFill>
              <a:srgbClr val="176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9848" y="3383280"/>
            <a:ext cx="2459736" cy="43891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82433"/>
                </a:solidFill>
                <a:latin typeface="Aptos"/>
              </a:defRPr>
            </a:pPr>
            <a:r>
              <a:t>gRPC: gorsze wsparcie przeglądarki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2104" y="4123944"/>
            <a:ext cx="73152" cy="73152"/>
          </a:xfrm>
          <a:prstGeom prst="rect">
            <a:avLst/>
          </a:prstGeom>
          <a:solidFill>
            <a:srgbClr val="176B63"/>
          </a:solidFill>
          <a:ln w="12700">
            <a:solidFill>
              <a:srgbClr val="176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9848" y="4023360"/>
            <a:ext cx="2459736" cy="43891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82433"/>
                </a:solidFill>
                <a:latin typeface="Aptos"/>
              </a:defRPr>
            </a:pPr>
            <a:r>
              <a:t>tRPC: serwer wymaga TypeScript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33087" y="1508760"/>
            <a:ext cx="324612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33087" y="1508760"/>
            <a:ext cx="3246120" cy="100584"/>
          </a:xfrm>
          <a:prstGeom prst="rect">
            <a:avLst/>
          </a:prstGeom>
          <a:solidFill>
            <a:srgbClr val="35658C"/>
          </a:solidFill>
          <a:ln w="12700">
            <a:solidFill>
              <a:srgbClr val="3565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70831" y="1856231"/>
            <a:ext cx="2743200" cy="34747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3233A"/>
                </a:solidFill>
                <a:latin typeface="Aptos"/>
              </a:defRPr>
            </a:pPr>
            <a:r>
              <a:t>PostgreSQL + JPA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0831" y="2359152"/>
            <a:ext cx="27432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637184"/>
                </a:solidFill>
                <a:latin typeface="Aptos"/>
              </a:defRPr>
            </a:pPr>
            <a:r>
              <a:t>DLACZEGO NIE: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70831" y="2843784"/>
            <a:ext cx="73152" cy="73152"/>
          </a:xfrm>
          <a:prstGeom prst="rect">
            <a:avLst/>
          </a:prstGeom>
          <a:solidFill>
            <a:srgbClr val="35658C"/>
          </a:solidFill>
          <a:ln w="12700">
            <a:solidFill>
              <a:srgbClr val="3565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08575" y="2743200"/>
            <a:ext cx="2459736" cy="43891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82433"/>
                </a:solidFill>
                <a:latin typeface="Aptos"/>
              </a:defRPr>
            </a:pPr>
            <a:r>
              <a:t>MongoDB: dane są relacyjne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70831" y="3483864"/>
            <a:ext cx="73152" cy="73152"/>
          </a:xfrm>
          <a:prstGeom prst="rect">
            <a:avLst/>
          </a:prstGeom>
          <a:solidFill>
            <a:srgbClr val="35658C"/>
          </a:solidFill>
          <a:ln w="12700">
            <a:solidFill>
              <a:srgbClr val="3565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08575" y="3383280"/>
            <a:ext cx="2459736" cy="43891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82433"/>
                </a:solidFill>
                <a:latin typeface="Aptos"/>
              </a:defRPr>
            </a:pPr>
            <a:r>
              <a:t>H2: ryzyko różnic między dialektami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70831" y="4123944"/>
            <a:ext cx="73152" cy="73152"/>
          </a:xfrm>
          <a:prstGeom prst="rect">
            <a:avLst/>
          </a:prstGeom>
          <a:solidFill>
            <a:srgbClr val="35658C"/>
          </a:solidFill>
          <a:ln w="12700">
            <a:solidFill>
              <a:srgbClr val="3565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08575" y="4023360"/>
            <a:ext cx="2459736" cy="43891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82433"/>
                </a:solidFill>
                <a:latin typeface="Aptos"/>
              </a:defRPr>
            </a:pPr>
            <a:r>
              <a:t>jOOQ: zbędna kontrola nad SQL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671816" y="1508760"/>
            <a:ext cx="324612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671816" y="1508760"/>
            <a:ext cx="3246120" cy="100584"/>
          </a:xfrm>
          <a:prstGeom prst="rect">
            <a:avLst/>
          </a:prstGeom>
          <a:solidFill>
            <a:srgbClr val="C75B4B"/>
          </a:solidFill>
          <a:ln w="12700">
            <a:solidFill>
              <a:srgbClr val="C75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09560" y="1856231"/>
            <a:ext cx="2743200" cy="34747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3233A"/>
                </a:solidFill>
                <a:latin typeface="Aptos"/>
              </a:defRPr>
            </a:pPr>
            <a:r>
              <a:t>Vue 3 SPA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09560" y="2359152"/>
            <a:ext cx="27432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637184"/>
                </a:solidFill>
                <a:latin typeface="Aptos"/>
              </a:defRPr>
            </a:pPr>
            <a:r>
              <a:t>DLACZEGO NIE: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909560" y="2843784"/>
            <a:ext cx="73152" cy="73152"/>
          </a:xfrm>
          <a:prstGeom prst="rect">
            <a:avLst/>
          </a:prstGeom>
          <a:solidFill>
            <a:srgbClr val="C75B4B"/>
          </a:solidFill>
          <a:ln w="12700">
            <a:solidFill>
              <a:srgbClr val="C75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47304" y="2743200"/>
            <a:ext cx="2459736" cy="43891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82433"/>
                </a:solidFill>
                <a:latin typeface="Aptos"/>
              </a:defRPr>
            </a:pPr>
            <a:r>
              <a:t>React: podobny koszt, brak przewagi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909560" y="3483864"/>
            <a:ext cx="73152" cy="73152"/>
          </a:xfrm>
          <a:prstGeom prst="rect">
            <a:avLst/>
          </a:prstGeom>
          <a:solidFill>
            <a:srgbClr val="C75B4B"/>
          </a:solidFill>
          <a:ln w="12700">
            <a:solidFill>
              <a:srgbClr val="C75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47304" y="3383280"/>
            <a:ext cx="2459736" cy="43891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82433"/>
                </a:solidFill>
                <a:latin typeface="Aptos"/>
              </a:defRPr>
            </a:pPr>
            <a:r>
              <a:t>Angular: zbyt duży narzut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909560" y="4123944"/>
            <a:ext cx="73152" cy="73152"/>
          </a:xfrm>
          <a:prstGeom prst="rect">
            <a:avLst/>
          </a:prstGeom>
          <a:solidFill>
            <a:srgbClr val="C75B4B"/>
          </a:solidFill>
          <a:ln w="12700">
            <a:solidFill>
              <a:srgbClr val="C75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47304" y="4023360"/>
            <a:ext cx="2459736" cy="43891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82433"/>
                </a:solidFill>
                <a:latin typeface="Aptos"/>
              </a:defRPr>
            </a:pPr>
            <a:r>
              <a:t>Nuxt/SSR: brak publicznych treści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5852160"/>
            <a:ext cx="1088136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37184"/>
                </a:solidFill>
                <a:latin typeface="Aptos"/>
              </a:defRPr>
            </a:pPr>
            <a:r>
              <a:t>Doświadczenie zespołu w Javie i Spring Boot ograniczyło ryzyko, ale nie było jedynym argumentem.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76B63"/>
          </a:solidFill>
          <a:ln w="12700">
            <a:solidFill>
              <a:srgbClr val="176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27432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176B63"/>
                </a:solidFill>
                <a:latin typeface="Aptos"/>
              </a:defRPr>
            </a:pPr>
            <a:r>
              <a:t>JAKOŚĆ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064240" cy="43891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3233A"/>
                </a:solidFill>
                <a:latin typeface="Aptos"/>
              </a:defRPr>
            </a:pPr>
            <a:r>
              <a:t>Ryzyka pokrywamy tam, gdzie powstają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932688"/>
            <a:ext cx="10789920" cy="31089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37184"/>
                </a:solidFill>
                <a:latin typeface="Aptos"/>
              </a:defRPr>
            </a:pPr>
            <a:r>
              <a:t>Priorytet testów serwera i elementy dodatkowe faktycznie używane w systemie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65408" y="6528816"/>
            <a:ext cx="384048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37184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23317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73152" cy="914400"/>
          </a:xfrm>
          <a:prstGeom prst="rect">
            <a:avLst/>
          </a:prstGeom>
          <a:solidFill>
            <a:srgbClr val="176B63"/>
          </a:solidFill>
          <a:ln w="12700">
            <a:solidFill>
              <a:srgbClr val="176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527048"/>
            <a:ext cx="2011679" cy="38404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3233A"/>
                </a:solidFill>
                <a:latin typeface="Aptos"/>
              </a:defRPr>
            </a:pPr>
            <a:r>
              <a:t>78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1956816"/>
            <a:ext cx="2011679" cy="21945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37184"/>
                </a:solidFill>
                <a:latin typeface="Aptos"/>
              </a:defRPr>
            </a:pPr>
            <a:r>
              <a:t>przypadków testowych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36392" y="1417320"/>
            <a:ext cx="23317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136392" y="1417320"/>
            <a:ext cx="73152" cy="914400"/>
          </a:xfrm>
          <a:prstGeom prst="rect">
            <a:avLst/>
          </a:prstGeom>
          <a:solidFill>
            <a:srgbClr val="35658C"/>
          </a:solidFill>
          <a:ln w="12700">
            <a:solidFill>
              <a:srgbClr val="3565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55848" y="1527048"/>
            <a:ext cx="2011679" cy="38404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3233A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55848" y="1956816"/>
            <a:ext cx="2011679" cy="21945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37184"/>
                </a:solidFill>
                <a:latin typeface="Aptos"/>
              </a:defRPr>
            </a:pPr>
            <a:r>
              <a:t>klas Spocka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32704" y="1417320"/>
            <a:ext cx="23317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32704" y="1417320"/>
            <a:ext cx="73152" cy="914400"/>
          </a:xfrm>
          <a:prstGeom prst="rect">
            <a:avLst/>
          </a:prstGeom>
          <a:solidFill>
            <a:srgbClr val="C75B4B"/>
          </a:solidFill>
          <a:ln w="12700">
            <a:solidFill>
              <a:srgbClr val="C75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52160" y="1527048"/>
            <a:ext cx="2011679" cy="38404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3233A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52160" y="1956816"/>
            <a:ext cx="2011679" cy="21945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37184"/>
                </a:solidFill>
                <a:latin typeface="Aptos"/>
              </a:defRPr>
            </a:pPr>
            <a:r>
              <a:t>elementów dodatkowych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29016" y="1417320"/>
            <a:ext cx="23317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29016" y="1417320"/>
            <a:ext cx="73152" cy="914400"/>
          </a:xfrm>
          <a:prstGeom prst="rect">
            <a:avLst/>
          </a:prstGeom>
          <a:solidFill>
            <a:srgbClr val="D6A72C"/>
          </a:solidFill>
          <a:ln w="12700">
            <a:solidFill>
              <a:srgbClr val="D6A7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48472" y="1527048"/>
            <a:ext cx="2011679" cy="38404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3233A"/>
                </a:solidFill>
                <a:latin typeface="Aptos"/>
              </a:defRPr>
            </a:pPr>
            <a:r>
              <a:t>18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48472" y="1956816"/>
            <a:ext cx="2011679" cy="21945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37184"/>
                </a:solidFill>
                <a:latin typeface="Aptos"/>
              </a:defRPr>
            </a:pPr>
            <a:r>
              <a:t>decyzji ADR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2788920"/>
            <a:ext cx="5303520" cy="2487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3063240"/>
            <a:ext cx="475488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3233A"/>
                </a:solidFill>
                <a:latin typeface="Aptos"/>
              </a:defRPr>
            </a:pPr>
            <a:r>
              <a:t>Strategia testów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" y="3566160"/>
            <a:ext cx="1417320" cy="310896"/>
          </a:xfrm>
          <a:prstGeom prst="roundRect">
            <a:avLst/>
          </a:prstGeom>
          <a:solidFill>
            <a:srgbClr val="E4EDF5"/>
          </a:solidFill>
          <a:ln w="12700">
            <a:solidFill>
              <a:srgbClr val="E4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>
              <a:defRPr sz="1000" b="1">
                <a:solidFill>
                  <a:srgbClr val="35658C"/>
                </a:solidFill>
                <a:latin typeface="Aptos"/>
              </a:defRPr>
            </a:pPr>
            <a:r>
              <a:t>JEDNOSTKOWE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23744" y="3602736"/>
            <a:ext cx="2834640" cy="21945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82433"/>
                </a:solidFill>
                <a:latin typeface="Aptos"/>
              </a:defRPr>
            </a:pPr>
            <a:r>
              <a:t>metryki i ranking sugestii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4400" y="4114800"/>
            <a:ext cx="1417320" cy="310896"/>
          </a:xfrm>
          <a:prstGeom prst="roundRect">
            <a:avLst/>
          </a:prstGeom>
          <a:solidFill>
            <a:srgbClr val="DDEEEB"/>
          </a:solidFill>
          <a:ln w="12700">
            <a:solidFill>
              <a:srgbClr val="DDE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>
              <a:defRPr sz="1000" b="1">
                <a:solidFill>
                  <a:srgbClr val="176B63"/>
                </a:solidFill>
                <a:latin typeface="Aptos"/>
              </a:defRPr>
            </a:pPr>
            <a:r>
              <a:t>INTEGRACYJNE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23744" y="4078224"/>
            <a:ext cx="3017520" cy="38404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82433"/>
                </a:solidFill>
                <a:latin typeface="Aptos"/>
              </a:defRPr>
            </a:pPr>
            <a:r>
              <a:t>MockMvc + Spring Security + Flyway</a:t>
            </a:r>
            <a:br/>
            <a:r>
              <a:t>+ prawdziwy PostgreSQL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72200" y="2788920"/>
            <a:ext cx="5029200" cy="2487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46520" y="3063240"/>
            <a:ext cx="448056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3233A"/>
                </a:solidFill>
                <a:latin typeface="Aptos"/>
              </a:defRPr>
            </a:pPr>
            <a:r>
              <a:t>Dodatkowe elementy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46520" y="3611880"/>
            <a:ext cx="1234440" cy="310896"/>
          </a:xfrm>
          <a:prstGeom prst="roundRect">
            <a:avLst/>
          </a:prstGeom>
          <a:solidFill>
            <a:srgbClr val="DDEEEB"/>
          </a:solidFill>
          <a:ln w="12700">
            <a:solidFill>
              <a:srgbClr val="DDE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>
              <a:defRPr sz="1000" b="1">
                <a:solidFill>
                  <a:srgbClr val="27856F"/>
                </a:solidFill>
                <a:latin typeface="Aptos"/>
              </a:defRPr>
            </a:pPr>
            <a:r>
              <a:t>Testy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863840" y="3611880"/>
            <a:ext cx="1234440" cy="310896"/>
          </a:xfrm>
          <a:prstGeom prst="roundRect">
            <a:avLst/>
          </a:prstGeom>
          <a:solidFill>
            <a:srgbClr val="DDEEEB"/>
          </a:solidFill>
          <a:ln w="12700">
            <a:solidFill>
              <a:srgbClr val="DDE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>
              <a:defRPr sz="1000" b="1">
                <a:solidFill>
                  <a:srgbClr val="176B63"/>
                </a:solidFill>
                <a:latin typeface="Aptos"/>
              </a:defRPr>
            </a:pPr>
            <a:r>
              <a:t>Walidacja DTO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281160" y="3611880"/>
            <a:ext cx="1234440" cy="310896"/>
          </a:xfrm>
          <a:prstGeom prst="roundRect">
            <a:avLst/>
          </a:prstGeom>
          <a:solidFill>
            <a:srgbClr val="E4EDF5"/>
          </a:solidFill>
          <a:ln w="12700">
            <a:solidFill>
              <a:srgbClr val="E4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>
              <a:defRPr sz="1000" b="1">
                <a:solidFill>
                  <a:srgbClr val="35658C"/>
                </a:solidFill>
                <a:latin typeface="Aptos"/>
              </a:defRPr>
            </a:pPr>
            <a:r>
              <a:t>Swagger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46520" y="4270248"/>
            <a:ext cx="1234440" cy="310896"/>
          </a:xfrm>
          <a:prstGeom prst="roundRect">
            <a:avLst/>
          </a:prstGeom>
          <a:solidFill>
            <a:srgbClr val="F6E4E0"/>
          </a:solidFill>
          <a:ln w="12700">
            <a:solidFill>
              <a:srgbClr val="F6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>
              <a:defRPr sz="1000" b="1">
                <a:solidFill>
                  <a:srgbClr val="C75B4B"/>
                </a:solidFill>
                <a:latin typeface="Aptos"/>
              </a:defRPr>
            </a:pPr>
            <a:r>
              <a:t>Dane próbne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863840" y="4270248"/>
            <a:ext cx="1234440" cy="310896"/>
          </a:xfrm>
          <a:prstGeom prst="roundRect">
            <a:avLst/>
          </a:prstGeom>
          <a:solidFill>
            <a:srgbClr val="F7EECF"/>
          </a:solidFill>
          <a:ln w="12700">
            <a:solidFill>
              <a:srgbClr val="F7EE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>
              <a:defRPr sz="1000" b="1">
                <a:solidFill>
                  <a:srgbClr val="D6A72C"/>
                </a:solidFill>
                <a:latin typeface="Aptos"/>
              </a:defRPr>
            </a:pPr>
            <a:r>
              <a:t>Stan i dziennik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76B63"/>
          </a:solidFill>
          <a:ln w="12700">
            <a:solidFill>
              <a:srgbClr val="176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27432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176B63"/>
                </a:solidFill>
                <a:latin typeface="Aptos"/>
              </a:defRPr>
            </a:pPr>
            <a:r>
              <a:t>WERYFIKACJA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064240" cy="43891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3233A"/>
                </a:solidFill>
                <a:latin typeface="Aptos"/>
              </a:defRPr>
            </a:pPr>
            <a:r>
              <a:t>Każde wymaganie ma konkretny dowód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932688"/>
            <a:ext cx="10789920" cy="31089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37184"/>
                </a:solidFill>
                <a:latin typeface="Aptos"/>
              </a:defRPr>
            </a:pPr>
            <a:r>
              <a:t>Nie tylko deklarujemy architekturę: wskazujemy jej realizację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65408" y="6528816"/>
            <a:ext cx="384048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37184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463040"/>
            <a:ext cx="5138928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50392" y="1673352"/>
            <a:ext cx="658368" cy="658368"/>
          </a:xfrm>
          <a:prstGeom prst="roundRect">
            <a:avLst/>
          </a:prstGeom>
          <a:solidFill>
            <a:srgbClr val="176B63"/>
          </a:solidFill>
          <a:ln w="12700">
            <a:solidFill>
              <a:srgbClr val="176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109728" bIns="109728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R1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09928" y="1664208"/>
            <a:ext cx="3749039" cy="26517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3233A"/>
                </a:solidFill>
                <a:latin typeface="Aptos"/>
              </a:defRPr>
            </a:pPr>
            <a:r>
              <a:t>API + 4 zasoby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09928" y="2066544"/>
            <a:ext cx="3749039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37184"/>
                </a:solidFill>
                <a:latin typeface="Aptos"/>
              </a:defRPr>
            </a:pPr>
            <a:r>
              <a:t>Użytkownik, Projekt, Zadanie, Notatka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463040"/>
            <a:ext cx="5138928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36792" y="1673352"/>
            <a:ext cx="658368" cy="658368"/>
          </a:xfrm>
          <a:prstGeom prst="roundRect">
            <a:avLst/>
          </a:prstGeom>
          <a:solidFill>
            <a:srgbClr val="35658C"/>
          </a:solidFill>
          <a:ln w="12700">
            <a:solidFill>
              <a:srgbClr val="3565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109728" bIns="109728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R2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96328" y="1664208"/>
            <a:ext cx="3749039" cy="26517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3233A"/>
                </a:solidFill>
                <a:latin typeface="Aptos"/>
              </a:defRPr>
            </a:pPr>
            <a:r>
              <a:t>Baza + migracje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96328" y="2066544"/>
            <a:ext cx="3749039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37184"/>
                </a:solidFill>
                <a:latin typeface="Aptos"/>
              </a:defRPr>
            </a:pPr>
            <a:r>
              <a:t>PostgreSQL, Flyway, ddl-auto=none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2907792"/>
            <a:ext cx="5138928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50392" y="3118104"/>
            <a:ext cx="658368" cy="658368"/>
          </a:xfrm>
          <a:prstGeom prst="roundRect">
            <a:avLst/>
          </a:prstGeom>
          <a:solidFill>
            <a:srgbClr val="C75B4B"/>
          </a:solidFill>
          <a:ln w="12700">
            <a:solidFill>
              <a:srgbClr val="C75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109728" bIns="109728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R3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09928" y="3108960"/>
            <a:ext cx="3749039" cy="26517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3233A"/>
                </a:solidFill>
                <a:latin typeface="Aptos"/>
              </a:defRPr>
            </a:pPr>
            <a:r>
              <a:t>Interfejs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09928" y="3511296"/>
            <a:ext cx="3749039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37184"/>
                </a:solidFill>
                <a:latin typeface="Aptos"/>
              </a:defRPr>
            </a:pPr>
            <a:r>
              <a:t>Vue SPA korzystające z REST API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2200" y="2907792"/>
            <a:ext cx="5138928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336792" y="3118104"/>
            <a:ext cx="658368" cy="658368"/>
          </a:xfrm>
          <a:prstGeom prst="roundRect">
            <a:avLst/>
          </a:prstGeom>
          <a:solidFill>
            <a:srgbClr val="D6A72C"/>
          </a:solidFill>
          <a:ln w="12700">
            <a:solidFill>
              <a:srgbClr val="D6A7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109728" bIns="109728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R4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96328" y="3108960"/>
            <a:ext cx="3749039" cy="26517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3233A"/>
                </a:solidFill>
                <a:latin typeface="Aptos"/>
              </a:defRPr>
            </a:pPr>
            <a:r>
              <a:t>Uwierzytelnianie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96328" y="3511296"/>
            <a:ext cx="3749039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37184"/>
                </a:solidFill>
                <a:latin typeface="Aptos"/>
              </a:defRPr>
            </a:pPr>
            <a:r>
              <a:t>JWT, BCrypt, chronione API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4352544"/>
            <a:ext cx="5138928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50392" y="4562856"/>
            <a:ext cx="658368" cy="658368"/>
          </a:xfrm>
          <a:prstGeom prst="roundRect">
            <a:avLst/>
          </a:prstGeom>
          <a:solidFill>
            <a:srgbClr val="27856F"/>
          </a:solidFill>
          <a:ln w="12700">
            <a:solidFill>
              <a:srgbClr val="2785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109728" bIns="109728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R5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09928" y="4553712"/>
            <a:ext cx="3749039" cy="26517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3233A"/>
                </a:solidFill>
                <a:latin typeface="Aptos"/>
              </a:defRPr>
            </a:pPr>
            <a:r>
              <a:t>Kontenery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09928" y="4956048"/>
            <a:ext cx="3749039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37184"/>
                </a:solidFill>
                <a:latin typeface="Aptos"/>
              </a:defRPr>
            </a:pPr>
            <a:r>
              <a:t>Compose: interfejs + serwer + baza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72200" y="4352544"/>
            <a:ext cx="5138928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336792" y="4562856"/>
            <a:ext cx="658368" cy="658368"/>
          </a:xfrm>
          <a:prstGeom prst="roundRect">
            <a:avLst/>
          </a:prstGeom>
          <a:solidFill>
            <a:srgbClr val="176B63"/>
          </a:solidFill>
          <a:ln w="12700">
            <a:solidFill>
              <a:srgbClr val="176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109728" bIns="109728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R6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96328" y="4553712"/>
            <a:ext cx="3749039" cy="26517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3233A"/>
                </a:solidFill>
                <a:latin typeface="Aptos"/>
              </a:defRPr>
            </a:pPr>
            <a:r>
              <a:t>Repozytorium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96328" y="4956048"/>
            <a:ext cx="3749039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37184"/>
                </a:solidFill>
                <a:latin typeface="Aptos"/>
              </a:defRPr>
            </a:pPr>
            <a:r>
              <a:t>README, ADR, wkład obu osób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76B63"/>
          </a:solidFill>
          <a:ln w="12700">
            <a:solidFill>
              <a:srgbClr val="176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27432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176B63"/>
                </a:solidFill>
                <a:latin typeface="Aptos"/>
              </a:defRPr>
            </a:pPr>
            <a:r>
              <a:t>WNIOSKI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064240" cy="43891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3233A"/>
                </a:solidFill>
                <a:latin typeface="Aptos"/>
              </a:defRPr>
            </a:pPr>
            <a:r>
              <a:t>Czego się nauczyliśmy?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932688"/>
            <a:ext cx="10789920" cy="31089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37184"/>
                </a:solidFill>
                <a:latin typeface="Aptos"/>
              </a:defRPr>
            </a:pPr>
            <a:r>
              <a:t>Najważniejsze efekty nie są związane z liczbą punktów 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65408" y="6528816"/>
            <a:ext cx="384048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37184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508760"/>
            <a:ext cx="3401568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508760"/>
            <a:ext cx="3401568" cy="109728"/>
          </a:xfrm>
          <a:prstGeom prst="rect">
            <a:avLst/>
          </a:prstGeom>
          <a:solidFill>
            <a:srgbClr val="176B63"/>
          </a:solidFill>
          <a:ln w="12700">
            <a:solidFill>
              <a:srgbClr val="176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920240"/>
            <a:ext cx="2999232" cy="59436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3233A"/>
                </a:solidFill>
                <a:latin typeface="Aptos"/>
              </a:defRPr>
            </a:pPr>
            <a:r>
              <a:t>ADR może się zmienić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770632"/>
            <a:ext cx="2880360" cy="11430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82433"/>
                </a:solidFill>
                <a:latin typeface="Aptos"/>
              </a:defRPr>
            </a:pPr>
            <a:r>
              <a:t>Decyzje mogą ewoluować.</a:t>
            </a:r>
            <a:br/>
            <a:r>
              <a:t>Zaproszenia odroczyliśmy po ocenie wpływu.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4352544"/>
            <a:ext cx="2880360" cy="21945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76B63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07408" y="1508760"/>
            <a:ext cx="3401568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07408" y="1508760"/>
            <a:ext cx="3401568" cy="109728"/>
          </a:xfrm>
          <a:prstGeom prst="rect">
            <a:avLst/>
          </a:prstGeom>
          <a:solidFill>
            <a:srgbClr val="35658C"/>
          </a:solidFill>
          <a:ln w="12700">
            <a:solidFill>
              <a:srgbClr val="3565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08576" y="1920240"/>
            <a:ext cx="2999232" cy="59436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3233A"/>
                </a:solidFill>
                <a:latin typeface="Aptos"/>
              </a:defRPr>
            </a:pPr>
            <a:r>
              <a:t>Granice redukują ryzyko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770632"/>
            <a:ext cx="2880360" cy="11430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82433"/>
                </a:solidFill>
                <a:latin typeface="Aptos"/>
              </a:defRPr>
            </a:pPr>
            <a:r>
              <a:t>Bezpieczeństwo pozostaje na serwerze.</a:t>
            </a:r>
            <a:br/>
            <a:r>
              <a:t>Interfejs korzysta z kontraktu API.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4352544"/>
            <a:ext cx="2880360" cy="21945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35658C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74736" y="1508760"/>
            <a:ext cx="3401568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74736" y="1508760"/>
            <a:ext cx="3401568" cy="109728"/>
          </a:xfrm>
          <a:prstGeom prst="rect">
            <a:avLst/>
          </a:prstGeom>
          <a:solidFill>
            <a:srgbClr val="C75B4B"/>
          </a:solidFill>
          <a:ln w="12700">
            <a:solidFill>
              <a:srgbClr val="C75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75904" y="1920240"/>
            <a:ext cx="2999232" cy="59436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3233A"/>
                </a:solidFill>
                <a:latin typeface="Aptos"/>
              </a:defRPr>
            </a:pPr>
            <a:r>
              <a:t>Testuj na docelowym stosie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0767" y="2770632"/>
            <a:ext cx="2880360" cy="11430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82433"/>
                </a:solidFill>
                <a:latin typeface="Aptos"/>
              </a:defRPr>
            </a:pPr>
            <a:r>
              <a:t>PostgreSQL w Testcontainers ujawnia</a:t>
            </a:r>
            <a:br/>
            <a:r>
              <a:t>błędy niewidoczne w H2.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30767" y="4352544"/>
            <a:ext cx="2880360" cy="21945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C75B4B"/>
                </a:solidFill>
                <a:latin typeface="Aptos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76B63"/>
          </a:solidFill>
          <a:ln w="12700">
            <a:solidFill>
              <a:srgbClr val="176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27432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176B63"/>
                </a:solidFill>
                <a:latin typeface="Aptos"/>
              </a:defRPr>
            </a:pPr>
            <a:r>
              <a:t>WNIOSKI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064240" cy="43891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3233A"/>
                </a:solidFill>
                <a:latin typeface="Aptos"/>
              </a:defRPr>
            </a:pPr>
            <a:r>
              <a:t>Co zrobilibyśmy inaczej?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932688"/>
            <a:ext cx="10789920" cy="31089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37184"/>
                </a:solidFill>
                <a:latin typeface="Aptos"/>
              </a:defRPr>
            </a:pPr>
            <a:r>
              <a:t>Konkretna retrospektywa po zakończeniu implementacji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65408" y="6528816"/>
            <a:ext cx="384048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37184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73352"/>
            <a:ext cx="246888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3233A"/>
                </a:solidFill>
                <a:latin typeface="Aptos"/>
              </a:defRPr>
            </a:pPr>
            <a:r>
              <a:t>Testy interfejsu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246120" y="1682496"/>
            <a:ext cx="502920" cy="228600"/>
          </a:xfrm>
          <a:prstGeom prst="rightArrow">
            <a:avLst/>
          </a:prstGeom>
          <a:solidFill>
            <a:srgbClr val="176B63"/>
          </a:solidFill>
          <a:ln>
            <a:solidFill>
              <a:srgbClr val="176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977639" y="1444752"/>
            <a:ext cx="67665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977639" y="1444752"/>
            <a:ext cx="73152" cy="749808"/>
          </a:xfrm>
          <a:prstGeom prst="rect">
            <a:avLst/>
          </a:prstGeom>
          <a:solidFill>
            <a:srgbClr val="176B63"/>
          </a:solidFill>
          <a:ln w="12700">
            <a:solidFill>
              <a:srgbClr val="176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70248" y="1664208"/>
            <a:ext cx="617220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182433"/>
                </a:solidFill>
                <a:latin typeface="Aptos"/>
              </a:defRPr>
            </a:pPr>
            <a:r>
              <a:t>Vitest dla uwierzytelniania i Playwright dla głównego przepływu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752344"/>
            <a:ext cx="246888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3233A"/>
                </a:solidFill>
                <a:latin typeface="Aptos"/>
              </a:defRPr>
            </a:pPr>
            <a:r>
              <a:t>Analiza kodu od początku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246120" y="2761487"/>
            <a:ext cx="502920" cy="228600"/>
          </a:xfrm>
          <a:prstGeom prst="rightArrow">
            <a:avLst/>
          </a:prstGeom>
          <a:solidFill>
            <a:srgbClr val="35658C"/>
          </a:solidFill>
          <a:ln>
            <a:solidFill>
              <a:srgbClr val="3565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977639" y="2523744"/>
            <a:ext cx="67665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977639" y="2523744"/>
            <a:ext cx="73152" cy="749808"/>
          </a:xfrm>
          <a:prstGeom prst="rect">
            <a:avLst/>
          </a:prstGeom>
          <a:solidFill>
            <a:srgbClr val="35658C"/>
          </a:solidFill>
          <a:ln w="12700">
            <a:solidFill>
              <a:srgbClr val="3565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70248" y="2743200"/>
            <a:ext cx="617220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182433"/>
                </a:solidFill>
                <a:latin typeface="Aptos"/>
              </a:defRPr>
            </a:pPr>
            <a:r>
              <a:t>serwer i interfejs w jednej bramce jakości CI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831335"/>
            <a:ext cx="246888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3233A"/>
                </a:solidFill>
                <a:latin typeface="Aptos"/>
              </a:defRPr>
            </a:pPr>
            <a:r>
              <a:t>ADR po każdej zmianie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3246120" y="3840480"/>
            <a:ext cx="502920" cy="228600"/>
          </a:xfrm>
          <a:prstGeom prst="rightArrow">
            <a:avLst/>
          </a:prstGeom>
          <a:solidFill>
            <a:srgbClr val="C75B4B"/>
          </a:solidFill>
          <a:ln>
            <a:solidFill>
              <a:srgbClr val="C75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977639" y="3602736"/>
            <a:ext cx="67665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977639" y="3602736"/>
            <a:ext cx="73152" cy="749808"/>
          </a:xfrm>
          <a:prstGeom prst="rect">
            <a:avLst/>
          </a:prstGeom>
          <a:solidFill>
            <a:srgbClr val="C75B4B"/>
          </a:solidFill>
          <a:ln w="12700">
            <a:solidFill>
              <a:srgbClr val="C75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70248" y="3822191"/>
            <a:ext cx="617220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182433"/>
                </a:solidFill>
                <a:latin typeface="Aptos"/>
              </a:defRPr>
            </a:pPr>
            <a:r>
              <a:t>aktualizacja zakresu razem ze zmianą, nie na końcu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910328"/>
            <a:ext cx="246888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3233A"/>
                </a:solidFill>
                <a:latin typeface="Aptos"/>
              </a:defRPr>
            </a:pPr>
            <a:r>
              <a:t>Podział dużego widoku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3246120" y="4919472"/>
            <a:ext cx="502920" cy="228600"/>
          </a:xfrm>
          <a:prstGeom prst="rightArrow">
            <a:avLst/>
          </a:prstGeom>
          <a:solidFill>
            <a:srgbClr val="D6A72C"/>
          </a:solidFill>
          <a:ln>
            <a:solidFill>
              <a:srgbClr val="D6A7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977639" y="4681728"/>
            <a:ext cx="67665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977639" y="4681728"/>
            <a:ext cx="73152" cy="749808"/>
          </a:xfrm>
          <a:prstGeom prst="rect">
            <a:avLst/>
          </a:prstGeom>
          <a:solidFill>
            <a:srgbClr val="D6A72C"/>
          </a:solidFill>
          <a:ln w="12700">
            <a:solidFill>
              <a:srgbClr val="D6A7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70248" y="4901184"/>
            <a:ext cx="617220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182433"/>
                </a:solidFill>
                <a:latin typeface="Aptos"/>
              </a:defRPr>
            </a:pPr>
            <a:r>
              <a:t>wydzielenie tablicy, okien dialogowych i sekcji analiz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76B63"/>
          </a:solidFill>
          <a:ln w="12700">
            <a:solidFill>
              <a:srgbClr val="176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658368"/>
            <a:ext cx="228600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DDEEEB"/>
                </a:solidFill>
                <a:latin typeface="Aptos"/>
              </a:defRPr>
            </a:pPr>
            <a:r>
              <a:t>TASKFLOW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417320"/>
            <a:ext cx="8046720" cy="7498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900" b="1">
                <a:solidFill>
                  <a:srgbClr val="FFFFFF"/>
                </a:solidFill>
                <a:latin typeface="Aptos"/>
              </a:defRPr>
            </a:pPr>
            <a:r>
              <a:t>Pytania?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072384"/>
            <a:ext cx="10698480" cy="18288"/>
          </a:xfrm>
          <a:prstGeom prst="rect">
            <a:avLst/>
          </a:prstGeom>
          <a:solidFill>
            <a:srgbClr val="176B63"/>
          </a:solidFill>
          <a:ln w="12700">
            <a:solidFill>
              <a:srgbClr val="176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3493008"/>
            <a:ext cx="1417320" cy="23774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DDEEEB"/>
                </a:solidFill>
                <a:latin typeface="Aptos"/>
              </a:defRPr>
            </a:pPr>
            <a:r>
              <a:t>REPOZYTORIUM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31720" y="3465576"/>
            <a:ext cx="7680960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github.com/Inpheon/TaskFlow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4178808"/>
            <a:ext cx="1417320" cy="23774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DDEEEB"/>
                </a:solidFill>
                <a:latin typeface="Aptos"/>
              </a:defRPr>
            </a:pPr>
            <a:r>
              <a:t>SWAGGER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4151376"/>
            <a:ext cx="7680960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Aptos"/>
              </a:defRPr>
            </a:pPr>
            <a:r>
              <a:t>localhost:8080/swagger-ui/index.html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4864608"/>
            <a:ext cx="1417320" cy="23774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DDEEEB"/>
                </a:solidFill>
                <a:latin typeface="Aptos"/>
              </a:defRPr>
            </a:pPr>
            <a:r>
              <a:t>DOKUMENTY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1720" y="4837176"/>
            <a:ext cx="7680960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Aptos"/>
              </a:defRPr>
            </a:pPr>
            <a:r>
              <a:t>docs/ADR.md + docs/api-contract.md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6144768"/>
            <a:ext cx="6400800" cy="21945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A9BACB"/>
                </a:solidFill>
                <a:latin typeface="Aptos"/>
              </a:defRPr>
            </a:pPr>
            <a:r>
              <a:t>Dziękujemy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TaskFlow - architektura, decyzje i wnioski</dc:title>
  <dc:subject>Prezentacja końcowa PAI</dc:subject>
  <dc:creator>Zespół TaskFlow</dc:creator>
  <cp:keywords>TaskFlow, ADR, Spring Boot, Vue, PostgreSQL</cp:keywords>
  <dc:description>Wygenerowano na podstawie końcowego ADR i aktualnego repozytorium.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